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SMART INDIA HACKATHON 2026 — OFFICIAL IDEA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INDRA: Sovereign On-Premise Industrial AI Workbench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Autonomous Reasoning, Deterministic ASME/API Calculations &amp; Multi-Format Statutory Deliverables for Confidential Plant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32918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38BDF8"/>
                </a:solidFill>
              </a:defRPr>
            </a:pPr>
            <a:r>
              <a:t>PROBLEM STATEMENT ID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26117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Theme: Smart Automation • Software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017520"/>
            <a:ext cx="32918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154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59669"/>
                </a:solidFill>
              </a:defRPr>
            </a:pPr>
            <a:r>
              <a:t>AIR-GAP ASSURANCE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100% LOCAL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Zero WAN Egress Socket Audited (psutil daemon)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017520"/>
            <a:ext cx="32918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154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D97706"/>
                </a:solidFill>
              </a:defRPr>
            </a:pPr>
            <a:r>
              <a:t>ENTERPRISE OUTPUT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TRINITY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Auto-generated Word (.docx), Excel (.xlsx), Deck (.pptx)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63440"/>
            <a:ext cx="1036289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9966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CORE ARCHITECTURAL SOVEREIGNTY &amp; DEPLOYMENT VERIFICATION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Resident Open-Weight LLMs: Qwen 2.5 Coder (7B) + Qwen 3 (8B) quantized via 4-bit memory management.</a:t>
            </a:r>
            <a:br/>
            <a:r>
              <a:t>• Deterministic Physics &amp; Codes: ASME B31.3 §304.1.2, Crane TP 410 (Darcy-Weisbach), ANSI/ISA-5.1, ISO 10816-3.</a:t>
            </a:r>
            <a:br/>
            <a:r>
              <a:t>• Live Repository: https://github.com/prushidhar/SIH260117  |  Demo Video: https://youtu.be/WQ_M94EY9do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7772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Calibri"/>
              </a:defRPr>
            </a:pPr>
            <a:r>
              <a:t>2. INNOVATION &amp; UNIQUENESS</a:t>
            </a:r>
          </a:p>
          <a:p>
            <a:pPr>
              <a:defRPr sz="950">
                <a:solidFill>
                  <a:srgbClr val="38BDF8"/>
                </a:solidFill>
                <a:latin typeface="Calibri"/>
              </a:defRPr>
            </a:pPr>
            <a:r>
              <a:t>Direct Architectural Moat vs Cloud LLMs &amp; Generic Local Wrappers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502920"/>
            <a:ext cx="2286000" cy="457200"/>
          </a:xfrm>
          <a:prstGeom prst="roundRect">
            <a:avLst/>
          </a:prstGeom>
          <a:solidFill>
            <a:srgbClr val="1F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SIH 2026 — PS 26117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INDRA SOVEREIGN ENGINEERING WORKBENCH • AIR-GAP ZERO-WAN AUDITED • SM-26117 • SLIDE 2 OF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54480"/>
                <a:gridCol w="1554480"/>
                <a:gridCol w="182880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Cloud AI (ChatGPT/Claude)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Local Wrappers (Ollama)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INDRA Sovereign AI</a:t>
                      </a:r>
                    </a:p>
                  </a:txBody>
                  <a:tcPr>
                    <a:solidFill>
                      <a:srgbClr val="1F3A6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Data Sovereignty &amp; Air-Gap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❌ Confidential P&amp;IDs sent to US WAN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⚠️ Local daemon, unverified sockets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✅ 100% Zero-WAN Loopback Audited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Calculation 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❌ Hallucinates critical arithmetic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❌ Approximates from memory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✅ Deterministic AST Python Sandbox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Enterprise Deliverables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❌ Markdown chat text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❌ Plain web UI responses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✅ Native Word, Excel &amp; 16:9 Deck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Standards Verification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❌ Uncited general knowledge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❌ Generic summaries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✅ ASME B31.3, API 570, ISO 10816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Human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❌ Unregulated autonomous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❌ No role-based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✅ Dual-Key Tier-2 Superintendent HITL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325880"/>
            <a:ext cx="365760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435607"/>
            <a:ext cx="338328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EVIDENCE LOCK™ PROVENANCE</a:t>
            </a:r>
          </a:p>
          <a:p>
            <a:pPr>
              <a:defRPr b="1" sz="1800">
                <a:solidFill>
                  <a:srgbClr val="059669"/>
                </a:solidFill>
              </a:defRPr>
            </a:pPr>
            <a:r>
              <a:t>SHA-256 Merkle Ledger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Every equation, sensor parameter, and deliverable checksum is logged into an append-only cryptographic ledger (transcript.jsonl).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926080"/>
            <a:ext cx="365760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035808"/>
            <a:ext cx="338328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AUTOMATED DELIVERABLE TRINITY</a:t>
            </a:r>
          </a:p>
          <a:p>
            <a:pPr>
              <a:defRPr b="1" sz="1800">
                <a:solidFill>
                  <a:srgbClr val="1F3A6E"/>
                </a:solidFill>
              </a:defRPr>
            </a:pPr>
            <a:r>
              <a:t>.DOCX + .XLSX + .PPTX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Eliminates hours of manual reporting by auto-compiling formal Word statutory approval notes, Excel engineering workbooks, and board decks.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526280"/>
            <a:ext cx="365760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636008"/>
            <a:ext cx="338328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HARDWARE-AGNOSTIC RESIDENT LOADING</a:t>
            </a:r>
          </a:p>
          <a:p>
            <a:pPr>
              <a:defRPr b="1" sz="1800">
                <a:solidFill>
                  <a:srgbClr val="D97706"/>
                </a:solidFill>
              </a:defRPr>
            </a:pPr>
            <a:r>
              <a:t>Zero Cloud / Daemon Dependency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Runs natively on local GPU/CPU VRAM (16GB workstation) with resident quantized models. Zero recurring API token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7772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Calibri"/>
              </a:defRPr>
            </a:pPr>
            <a:r>
              <a:t>3. TECHNICAL APPROACH</a:t>
            </a:r>
          </a:p>
          <a:p>
            <a:pPr>
              <a:defRPr sz="950">
                <a:solidFill>
                  <a:srgbClr val="38BDF8"/>
                </a:solidFill>
                <a:latin typeface="Calibri"/>
              </a:defRPr>
            </a:pPr>
            <a:r>
              <a:t>Multi-Agent LangGraph Orchestration &amp; Deterministic Sandboxed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502920"/>
            <a:ext cx="2286000" cy="457200"/>
          </a:xfrm>
          <a:prstGeom prst="roundRect">
            <a:avLst/>
          </a:prstGeom>
          <a:solidFill>
            <a:srgbClr val="1F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SIH 2026 — PS 26117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INDRA SOVEREIGN ENGINEERING WORKBENCH • AIR-GAP ZERO-WAN AUDITED • SM-26117 • SLIDE 3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560320" cy="32918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17320"/>
            <a:ext cx="2331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38BDF8"/>
                </a:solidFill>
              </a:defRPr>
            </a:pPr>
            <a:r>
              <a:t>STAGE 1: INGESTION</a:t>
            </a:r>
          </a:p>
          <a:p>
            <a:pPr>
              <a:defRPr b="1" sz="1100">
                <a:solidFill>
                  <a:srgbClr val="0A192F"/>
                </a:solidFill>
              </a:defRPr>
            </a:pPr>
            <a:r>
              <a:t>Local Multimodal OCR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Scans P&amp;IDs &amp; ultrasonic NDT reports</a:t>
            </a:r>
            <a:br/>
            <a:r>
              <a:t>• PyMuPDF / Local OCR extracts tags</a:t>
            </a:r>
            <a:br/>
            <a:r>
              <a:t>• Zero third-party cloud API transmission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560320" cy="32918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417320"/>
            <a:ext cx="2331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1F3A6E"/>
                </a:solidFill>
              </a:defRPr>
            </a:pPr>
            <a:r>
              <a:t>STAGE 2: ORCHESTRATION</a:t>
            </a:r>
          </a:p>
          <a:p>
            <a:pPr>
              <a:defRPr b="1" sz="1100">
                <a:solidFill>
                  <a:srgbClr val="0A192F"/>
                </a:solidFill>
              </a:defRPr>
            </a:pPr>
            <a:r>
              <a:t>LangGraph State Machine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Task Router selects resident model</a:t>
            </a:r>
            <a:br/>
            <a:r>
              <a:t>• Qwen 2.5 Coder (Logic) / Qwen 3 (Report)</a:t>
            </a:r>
            <a:br/>
            <a:r>
              <a:t>• ChromaDB vector RAG (2,000+ clauses)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2560320" cy="32918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417320"/>
            <a:ext cx="2331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059669"/>
                </a:solidFill>
              </a:defRPr>
            </a:pPr>
            <a:r>
              <a:t>STAGE 3: VERIFICATION</a:t>
            </a:r>
          </a:p>
          <a:p>
            <a:pPr>
              <a:defRPr b="1" sz="1100">
                <a:solidFill>
                  <a:srgbClr val="0A192F"/>
                </a:solidFill>
              </a:defRPr>
            </a:pPr>
            <a:r>
              <a:t>AST Sandboxed Python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Isolated process execution</a:t>
            </a:r>
            <a:br/>
            <a:r>
              <a:t>• ASME B31.3 hoop stress calculation</a:t>
            </a:r>
            <a:br/>
            <a:r>
              <a:t>• Crane TP 410 Colebrook-White friction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560320" cy="32918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3688" y="1417320"/>
            <a:ext cx="2331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D97706"/>
                </a:solidFill>
              </a:defRPr>
            </a:pPr>
            <a:r>
              <a:t>STAGE 4: DELIVERABLES</a:t>
            </a:r>
          </a:p>
          <a:p>
            <a:pPr>
              <a:defRPr b="1" sz="1100">
                <a:solidFill>
                  <a:srgbClr val="0A192F"/>
                </a:solidFill>
              </a:defRPr>
            </a:pPr>
            <a:r>
              <a:t>Automated Deliverable Trinity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Native Word (.docx) approval note</a:t>
            </a:r>
            <a:br/>
            <a:r>
              <a:t>• Excel (.xlsx) calculation sheet</a:t>
            </a:r>
            <a:br/>
            <a:r>
              <a:t>• 16:9 Executive PowerPoint (.pptx)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0600"/>
            <a:ext cx="10728655" cy="13258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59669"/>
                </a:solidFill>
              </a:defRPr>
            </a:pPr>
            <a:r>
              <a:t>AIR-GAP SECURITY GUARANTEE: ACTIVE PROCESS-SCOPED SOCKET AUDITING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Live psutil Daemon: Inspects all active socket connections belonging to INDRA and its child processes in real-time.</a:t>
            </a:r>
            <a:br/>
            <a:r>
              <a:t>• Strict Localhost Loopback: Verifies 0 outbound WAN connections (0.0.0.0 egress blocked; all traffic strictly 127.0.0.1).</a:t>
            </a:r>
            <a:br/>
            <a:r>
              <a:t>• Cryptographic Proof: Emits live SHA-256 state hash proof accessible at `/api/security/airgap` and stamped on all deliverables.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7772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Calibri"/>
              </a:defRPr>
            </a:pPr>
            <a:r>
              <a:t>4. FEASIBILITY &amp; VIABILITY</a:t>
            </a:r>
          </a:p>
          <a:p>
            <a:pPr>
              <a:defRPr sz="950">
                <a:solidFill>
                  <a:srgbClr val="38BDF8"/>
                </a:solidFill>
                <a:latin typeface="Calibri"/>
              </a:defRPr>
            </a:pPr>
            <a:r>
              <a:t>Industrial Deployment Readiness, Hardware Sizing &amp; Risk Mitigation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502920"/>
            <a:ext cx="2286000" cy="457200"/>
          </a:xfrm>
          <a:prstGeom prst="roundRect">
            <a:avLst/>
          </a:prstGeom>
          <a:solidFill>
            <a:srgbClr val="1F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SIH 2026 — PS 26117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INDRA SOVEREIGN ENGINEERING WORKBENCH • AIR-GAP ZERO-WAN AUDITED • SM-26117 • SLIDE 4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48640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7"/>
            <a:ext cx="521208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RISK 1: ARITHMETIC HALLUCINATION</a:t>
            </a:r>
          </a:p>
          <a:p>
            <a:pPr>
              <a:defRPr b="1" sz="1800">
                <a:solidFill>
                  <a:srgbClr val="059669"/>
                </a:solidFill>
              </a:defRPr>
            </a:pPr>
            <a:r>
              <a:t>AST Sandboxed Python Execution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LLM is restricted from performing direct math. Instead, it generates AST-verified Python scripts executed inside an isolated local sandbox using ASME B31.3 &amp; Crane equations.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48640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35808"/>
            <a:ext cx="521208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RISK 2: CONFIDENTIAL DATA LEAKAGE</a:t>
            </a:r>
          </a:p>
          <a:p>
            <a:pPr>
              <a:defRPr b="1" sz="1800">
                <a:solidFill>
                  <a:srgbClr val="1F3A6E"/>
                </a:solidFill>
              </a:defRPr>
            </a:pPr>
            <a:r>
              <a:t>Strict 0-WAN Loopback Architecture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No cloud endpoints. Live network daemon actively monitors socket bindings. Any unauthorized egress terminates the connection immediately. Confirmed by SHA-256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80"/>
            <a:ext cx="548640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36008"/>
            <a:ext cx="521208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RISK 3: UNREGULATED AUTONOMOUS ACTIONS</a:t>
            </a:r>
          </a:p>
          <a:p>
            <a:pPr>
              <a:defRPr b="1" sz="1800">
                <a:solidFill>
                  <a:srgbClr val="D97706"/>
                </a:solidFill>
              </a:defRPr>
            </a:pPr>
            <a:r>
              <a:t>Dual-Key Human-In-The-Loop (HITL)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Critical operations (e.g. pressure relief modifications, line condemnations) require digital sign-off from Tier-2 Plant Superintendent before triggering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325880"/>
            <a:ext cx="493776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35607"/>
            <a:ext cx="466344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HARDWARE SIZING</a:t>
            </a:r>
          </a:p>
          <a:p>
            <a:pPr>
              <a:defRPr b="1" sz="1800">
                <a:solidFill>
                  <a:srgbClr val="38BDF8"/>
                </a:solidFill>
              </a:defRPr>
            </a:pPr>
            <a:r>
              <a:t>Single Workstation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Runs locally on 1x RTX 4080 (16GB VRAM) or standard 32GB RAM CPU workstations. No high-cost enterprise cloud servers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926080"/>
            <a:ext cx="493776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035808"/>
            <a:ext cx="466344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EXECUTION LATENCY</a:t>
            </a:r>
          </a:p>
          <a:p>
            <a:pPr>
              <a:defRPr b="1" sz="1800">
                <a:solidFill>
                  <a:srgbClr val="059669"/>
                </a:solidFill>
              </a:defRPr>
            </a:pPr>
            <a:r>
              <a:t>&lt; 3.5 Seconds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Multi-tool execution, ASME verification, and deliverable compilation (.docx, .xlsx, .pptx) finishes in under 3.5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526280"/>
            <a:ext cx="493776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636008"/>
            <a:ext cx="466344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OPERATING ECONOMICS</a:t>
            </a:r>
          </a:p>
          <a:p>
            <a:pPr>
              <a:defRPr b="1" sz="1800">
                <a:solidFill>
                  <a:srgbClr val="1F3A6E"/>
                </a:solidFill>
              </a:defRPr>
            </a:pPr>
            <a:r>
              <a:t>₹0 Recurring Cost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Zero per-token cloud API fees. Saves ₹15–30 Lakhs annually per plant unit while guaranteeing 100% data sovereignty.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7772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Calibri"/>
              </a:defRPr>
            </a:pPr>
            <a:r>
              <a:t>5. IMPACT &amp; BENEFITS</a:t>
            </a:r>
          </a:p>
          <a:p>
            <a:pPr>
              <a:defRPr sz="950">
                <a:solidFill>
                  <a:srgbClr val="38BDF8"/>
                </a:solidFill>
                <a:latin typeface="Calibri"/>
              </a:defRPr>
            </a:pPr>
            <a:r>
              <a:t>Quantified Productivity Gains &amp; Multi-Stakeholder Plant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502920"/>
            <a:ext cx="2286000" cy="457200"/>
          </a:xfrm>
          <a:prstGeom prst="roundRect">
            <a:avLst/>
          </a:prstGeom>
          <a:solidFill>
            <a:srgbClr val="1F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SIH 2026 — PS 26117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INDRA SOVEREIGN ENGINEERING WORKBENCH • AIR-GAP ZERO-WAN AUDITED • SM-26117 • SLIDE 5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56032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7"/>
            <a:ext cx="228600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TURNAROUND TIME</a:t>
            </a:r>
          </a:p>
          <a:p>
            <a:pPr>
              <a:defRPr b="1" sz="1800">
                <a:solidFill>
                  <a:srgbClr val="059669"/>
                </a:solidFill>
              </a:defRPr>
            </a:pPr>
            <a:r>
              <a:t>98% REDUCTION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Statutory notes drafted from 4 days to 45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56032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35607"/>
            <a:ext cx="228600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CLOUD API COSTS</a:t>
            </a:r>
          </a:p>
          <a:p>
            <a:pPr>
              <a:defRPr b="1" sz="1800">
                <a:solidFill>
                  <a:srgbClr val="38BDF8"/>
                </a:solidFill>
              </a:defRPr>
            </a:pPr>
            <a:r>
              <a:t>₹0 SAVED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Zero external tokens; eliminates recurring cloud bills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256032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35607"/>
            <a:ext cx="228600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AIR-GAP COMPLIANCE</a:t>
            </a:r>
          </a:p>
          <a:p>
            <a:pPr>
              <a:defRPr b="1" sz="1800">
                <a:solidFill>
                  <a:srgbClr val="1F3A6E"/>
                </a:solidFill>
              </a:defRPr>
            </a:pPr>
            <a:r>
              <a:t>100% ZERO-WAN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Meets Indian Ministry of Petroleum cybersecurity standards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56032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435607"/>
            <a:ext cx="228600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64748B"/>
                </a:solidFill>
              </a:defRPr>
            </a:pPr>
            <a:r>
              <a:t>MATH HALLUCINATION</a:t>
            </a:r>
          </a:p>
          <a:p>
            <a:pPr>
              <a:defRPr b="1" sz="1800">
                <a:solidFill>
                  <a:srgbClr val="059669"/>
                </a:solidFill>
              </a:defRPr>
            </a:pPr>
            <a:r>
              <a:t>0% DETERMINISTIC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AST verified calculations eliminate catastrophic pipe rupture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2560320" cy="310896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10896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F3A6E"/>
                </a:solidFill>
              </a:defRPr>
            </a:pPr>
            <a:r>
              <a:t>Refinery Asset Integrity Engineers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Instant Ultrasonic NDT wall thickness &amp; RSL evaluations</a:t>
            </a:r>
            <a:br/>
            <a:r>
              <a:t>• ASME B31.3 §304.1.2 compliance matrices auto-generated</a:t>
            </a:r>
            <a:br/>
            <a:r>
              <a:t>• Replaces error-prone manual engineering spreadsheets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017520"/>
            <a:ext cx="2560320" cy="310896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310896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59669"/>
                </a:solidFill>
              </a:defRPr>
            </a:pPr>
            <a:r>
              <a:t>Statutory Plant Superintendents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Board-ready 16:9 executive PowerPoint presentations</a:t>
            </a:r>
            <a:br/>
            <a:r>
              <a:t>• Pre-filled formal Word approval notes with sign-off blocks</a:t>
            </a:r>
            <a:br/>
            <a:r>
              <a:t>• Dual-key authorization workflow ensures legal 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017520"/>
            <a:ext cx="2560320" cy="310896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310896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PSU Safety &amp; Vigilance Auditors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Tamper-evident SHA-256 Merkle audit trail for every task</a:t>
            </a:r>
            <a:br/>
            <a:r>
              <a:t>• 100% provenance tracking of formulas, tools, and inputs</a:t>
            </a:r>
            <a:br/>
            <a:r>
              <a:t>• IEC 62443 / CMMC OT security compliance out-of-the-box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3017520"/>
            <a:ext cx="2560320" cy="310896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310896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D97706"/>
                </a:solidFill>
              </a:defRPr>
            </a:pPr>
            <a:r>
              <a:t>Plant Operations &amp; Maintenance Teams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ISO 10816-3 machinery vibration triage &amp; FFT harmonics</a:t>
            </a:r>
            <a:br/>
            <a:r>
              <a:t>• Real-time equipment health cards &amp; dynamic gauges</a:t>
            </a:r>
            <a:br/>
            <a:r>
              <a:t>• Rapid root cause identification on critical pump assets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7772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Calibri"/>
              </a:defRPr>
            </a:pPr>
            <a:r>
              <a:t>6. RESEARCH, REFERENCES &amp; ROADMAP</a:t>
            </a:r>
          </a:p>
          <a:p>
            <a:pPr>
              <a:defRPr sz="950">
                <a:solidFill>
                  <a:srgbClr val="38BDF8"/>
                </a:solidFill>
                <a:latin typeface="Calibri"/>
              </a:defRPr>
            </a:pPr>
            <a:r>
              <a:t>Scientific Foundations, Industrial Standards &amp; TRL 7 Production Pathway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502920"/>
            <a:ext cx="2286000" cy="457200"/>
          </a:xfrm>
          <a:prstGeom prst="roundRect">
            <a:avLst/>
          </a:prstGeom>
          <a:solidFill>
            <a:srgbClr val="1F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SIH 2026 — PS 26117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INDRA SOVEREIGN ENGINEERING WORKBENCH • AIR-GAP ZERO-WAN AUDITED • SM-26117 • SLIDE 6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30352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F3A6E"/>
                </a:solidFill>
              </a:defRPr>
            </a:pPr>
            <a:r>
              <a:t>GOVERNING INDUSTRIAL STANDARDS &amp; SCIENTIFIC CODES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ASME B31.3 (2022 Edition): Process Piping Code §304.1.2 — Minimum Required Wall Thickness.</a:t>
            </a:r>
            <a:br/>
            <a:br/>
            <a:r>
              <a:t>• API 570 (4th Edition): Piping Inspection Code: In-service Inspection, Rating, Repair &amp; Alteration.</a:t>
            </a:r>
            <a:br/>
            <a:br/>
            <a:r>
              <a:t>• Crane Technical Paper No. 410 (TP 410): Flow of Fluids Through Valves, Fittings and Pipe.</a:t>
            </a:r>
            <a:br/>
            <a:br/>
            <a:r>
              <a:t>• ISO 10816-3 (2009): Mechanical Vibration Evaluation on Industrial Machinery (Zones A/B/C/D).</a:t>
            </a:r>
            <a:br/>
            <a:br/>
            <a:r>
              <a:t>• ANSI/ISA-5.1: Instrumentation Symbols and Identification for Piping &amp; Instrumentation Diagrams.</a:t>
            </a:r>
            <a:br/>
            <a:br/>
            <a:r>
              <a:t>• API 610 (12th Edition) / ISO 13709: Centrifugal Pumps for Petroleum &amp; Gas Industries.</a:t>
            </a:r>
            <a:br/>
            <a:br/>
            <a:r>
              <a:t>• Merkle, R. C. (1987): A Digital Signature Based on a Conventional Encryption Function (Merkle Trees).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059669"/>
                </a:solidFill>
              </a:defRPr>
            </a:pPr>
            <a:r>
              <a:t>PHASE 1: CURRENT (TRL 7)</a:t>
            </a:r>
          </a:p>
          <a:p>
            <a:pPr>
              <a:defRPr b="1" sz="1050">
                <a:solidFill>
                  <a:srgbClr val="0A192F"/>
                </a:solidFill>
              </a:defRPr>
            </a:pPr>
            <a:r>
              <a:t>Air-Gapped Desktop Prototype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Fully functional air-gapped workbench on local hardware</a:t>
            </a:r>
            <a:br/>
            <a:r>
              <a:t>• LangGraph DAG orchestrator with AST Python sandbox</a:t>
            </a:r>
            <a:br/>
            <a:r>
              <a:t>• Word (.docx), Excel (.xlsx), and 16:9 Deck (.pptx) factory</a:t>
            </a:r>
            <a:br/>
            <a:r>
              <a:t>• psutil socket auditor proving 0-WAN egress with SHA-256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21208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0175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38BDF8"/>
                </a:solidFill>
              </a:defRPr>
            </a:pPr>
            <a:r>
              <a:t>PHASE 2: NEAR-TERM (TRL 8)</a:t>
            </a:r>
          </a:p>
          <a:p>
            <a:pPr>
              <a:defRPr b="1" sz="1050">
                <a:solidFill>
                  <a:srgbClr val="0A192F"/>
                </a:solidFill>
              </a:defRPr>
            </a:pPr>
            <a:r>
              <a:t>SCADA / DCS Field Bus Integration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OPC-UA &amp; Modbus TCP connectors for real-time telemetry</a:t>
            </a:r>
            <a:br/>
            <a:r>
              <a:t>• Multi-node distributed local LLM inference cluster</a:t>
            </a:r>
            <a:br/>
            <a:r>
              <a:t>• Direct CAD DXF/DWG vector blueprint 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526280"/>
            <a:ext cx="5212080" cy="14630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6177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1F3A6E"/>
                </a:solidFill>
              </a:defRPr>
            </a:pPr>
            <a:r>
              <a:t>PHASE 3: ENTERPRISE (TRL 9)</a:t>
            </a:r>
          </a:p>
          <a:p>
            <a:pPr>
              <a:defRPr b="1" sz="1050">
                <a:solidFill>
                  <a:srgbClr val="0A192F"/>
                </a:solidFill>
              </a:defRPr>
            </a:pPr>
            <a:r>
              <a:t>Full PSU Refinery Deployment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Pilot deployment in IOCL / HPCL / ONGC air-gapped testbeds</a:t>
            </a:r>
            <a:br/>
            <a:r>
              <a:t>• Air-gapped hardware appliance (1U/2U rack server)</a:t>
            </a:r>
            <a:br/>
            <a:r>
              <a:t>• Centralized dual-key Merkle audit node for statutory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